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67" r:id="rId5"/>
    <p:sldId id="266" r:id="rId6"/>
    <p:sldId id="262" r:id="rId7"/>
    <p:sldId id="263" r:id="rId8"/>
    <p:sldId id="268" r:id="rId9"/>
    <p:sldId id="269" r:id="rId10"/>
    <p:sldId id="270" r:id="rId11"/>
    <p:sldId id="272" r:id="rId12"/>
    <p:sldId id="271" r:id="rId13"/>
    <p:sldId id="273" r:id="rId14"/>
    <p:sldId id="278" r:id="rId15"/>
    <p:sldId id="276" r:id="rId16"/>
    <p:sldId id="274" r:id="rId17"/>
    <p:sldId id="279" r:id="rId18"/>
    <p:sldId id="281" r:id="rId19"/>
    <p:sldId id="280" r:id="rId20"/>
    <p:sldId id="264" r:id="rId21"/>
    <p:sldId id="265" r:id="rId22"/>
    <p:sldId id="259" r:id="rId23"/>
  </p:sldIdLst>
  <p:sldSz cx="12192000" cy="6858000"/>
  <p:notesSz cx="6858000" cy="9144000"/>
  <p:embeddedFontLst>
    <p:embeddedFont>
      <p:font typeface="Libre Baskerville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20636C-C2B0-4160-B414-90F45A2B1713}" v="1" dt="2026-07-26T14:12:31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h Sunkari" userId="42812a5ec84c9cba" providerId="LiveId" clId="{48315667-FD31-45B0-BA3F-C3200FE90A3C}"/>
    <pc:docChg chg="undo custSel modSld">
      <pc:chgData name="Rohith Sunkari" userId="42812a5ec84c9cba" providerId="LiveId" clId="{48315667-FD31-45B0-BA3F-C3200FE90A3C}" dt="2026-07-26T14:12:58.124" v="5" actId="255"/>
      <pc:docMkLst>
        <pc:docMk/>
      </pc:docMkLst>
      <pc:sldChg chg="modSp mod">
        <pc:chgData name="Rohith Sunkari" userId="42812a5ec84c9cba" providerId="LiveId" clId="{48315667-FD31-45B0-BA3F-C3200FE90A3C}" dt="2026-07-26T14:12:58.124" v="5" actId="255"/>
        <pc:sldMkLst>
          <pc:docMk/>
          <pc:sldMk cId="0" sldId="256"/>
        </pc:sldMkLst>
        <pc:spChg chg="mod">
          <ac:chgData name="Rohith Sunkari" userId="42812a5ec84c9cba" providerId="LiveId" clId="{48315667-FD31-45B0-BA3F-C3200FE90A3C}" dt="2026-07-26T14:12:58.124" v="5" actId="255"/>
          <ac:spMkLst>
            <pc:docMk/>
            <pc:sldMk cId="0" sldId="256"/>
            <ac:spMk id="2" creationId="{959E8DBF-5D5C-38E1-4AD0-27021B037E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herla-vaishnavi-75a95830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ohithSunkari-14" TargetMode="External"/><Relationship Id="rId5" Type="http://schemas.openxmlformats.org/officeDocument/2006/relationships/hyperlink" Target="https://github.com/SherlaVaishnavi" TargetMode="External"/><Relationship Id="rId4" Type="http://schemas.openxmlformats.org/officeDocument/2006/relationships/hyperlink" Target="https://www.linkedin.com/in/rohith-sunkari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94508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685329"/>
            <a:ext cx="7246189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800" b="1" dirty="0"/>
              <a:t>Employee Management System</a:t>
            </a:r>
          </a:p>
          <a:p>
            <a:pPr lvl="0" algn="ctr">
              <a:buSzPts val="1800"/>
            </a:pPr>
            <a:r>
              <a:rPr lang="en-IN" sz="2000" dirty="0"/>
              <a:t>A Relational Database Management System Using MySQL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E8DBF-5D5C-38E1-4AD0-27021B037E72}"/>
              </a:ext>
            </a:extLst>
          </p:cNvPr>
          <p:cNvSpPr txBox="1"/>
          <p:nvPr/>
        </p:nvSpPr>
        <p:spPr>
          <a:xfrm>
            <a:off x="4016829" y="5284409"/>
            <a:ext cx="37664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Presented By:</a:t>
            </a:r>
          </a:p>
          <a:p>
            <a:pPr algn="ctr"/>
            <a:r>
              <a:rPr lang="en-IN" sz="1800" dirty="0"/>
              <a:t>Rohith Sunkari</a:t>
            </a:r>
          </a:p>
          <a:p>
            <a:pPr algn="ctr"/>
            <a:r>
              <a:rPr lang="en-IN" sz="1800" dirty="0"/>
              <a:t>Sherla Vaishnavi</a:t>
            </a:r>
          </a:p>
          <a:p>
            <a:pPr algn="ctr"/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5" y="416554"/>
            <a:ext cx="11590173" cy="48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/>
              <a:t>Meet the Team</a:t>
            </a:r>
            <a:endParaRPr sz="32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6C46F0-D819-5C7E-D0E7-6D63DBDEC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925029"/>
              </p:ext>
            </p:extLst>
          </p:nvPr>
        </p:nvGraphicFramePr>
        <p:xfrm>
          <a:off x="881743" y="1545771"/>
          <a:ext cx="10472057" cy="4604656"/>
        </p:xfrm>
        <a:graphic>
          <a:graphicData uri="http://schemas.openxmlformats.org/drawingml/2006/table">
            <a:tbl>
              <a:tblPr/>
              <a:tblGrid>
                <a:gridCol w="5214257">
                  <a:extLst>
                    <a:ext uri="{9D8B030D-6E8A-4147-A177-3AD203B41FA5}">
                      <a16:colId xmlns:a16="http://schemas.microsoft.com/office/drawing/2014/main" val="37310532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45341160"/>
                    </a:ext>
                  </a:extLst>
                </a:gridCol>
              </a:tblGrid>
              <a:tr h="68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Sherla Vaishnavi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Rohith Sunkari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644780"/>
                  </a:ext>
                </a:extLst>
              </a:tr>
              <a:tr h="68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Background:</a:t>
                      </a:r>
                      <a:r>
                        <a:rPr lang="en-IN"/>
                        <a:t> B.Tech – CSE (AI &amp; ML)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Background:</a:t>
                      </a:r>
                      <a:r>
                        <a:rPr lang="en-IN" dirty="0"/>
                        <a:t> B.Tech – CSE (AI &amp; ML)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00314"/>
                  </a:ext>
                </a:extLst>
              </a:tr>
              <a:tr h="1168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Why Data Science?</a:t>
                      </a:r>
                      <a:r>
                        <a:rPr lang="en-IN"/>
                        <a:t> Passionate about solving real-world problems using data and building analytical solutions.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Why Data Science?</a:t>
                      </a:r>
                      <a:r>
                        <a:rPr lang="en-IN" dirty="0"/>
                        <a:t> Interested in data-driven decision making and database technologies.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154971"/>
                  </a:ext>
                </a:extLst>
              </a:tr>
              <a:tr h="68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Work Experience:</a:t>
                      </a:r>
                      <a:r>
                        <a:rPr lang="en-IN" dirty="0"/>
                        <a:t> Fresher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Work Experience:</a:t>
                      </a:r>
                      <a:r>
                        <a:rPr lang="en-IN"/>
                        <a:t> Fresher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00177"/>
                  </a:ext>
                </a:extLst>
              </a:tr>
              <a:tr h="68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LinkedIn: </a:t>
                      </a:r>
                      <a:r>
                        <a:rPr lang="en-IN" b="1" dirty="0">
                          <a:hlinkClick r:id="rId3"/>
                        </a:rPr>
                        <a:t>Linkedin_URL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LinkedIn:</a:t>
                      </a:r>
                      <a:r>
                        <a:rPr lang="en-IN" dirty="0"/>
                        <a:t> </a:t>
                      </a:r>
                      <a:r>
                        <a:rPr lang="en-IN" b="1" i="0" dirty="0">
                          <a:hlinkClick r:id="rId4"/>
                        </a:rPr>
                        <a:t>Linkedin_URL</a:t>
                      </a:r>
                      <a:endParaRPr lang="en-IN" b="1" i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05827"/>
                  </a:ext>
                </a:extLst>
              </a:tr>
              <a:tr h="687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GitHub: </a:t>
                      </a:r>
                      <a:r>
                        <a:rPr lang="en-IN" b="1" dirty="0" err="1">
                          <a:hlinkClick r:id="rId5"/>
                        </a:rPr>
                        <a:t>GitHub_URL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GitHub: </a:t>
                      </a:r>
                      <a:r>
                        <a:rPr lang="en-IN" b="1" dirty="0">
                          <a:hlinkClick r:id="rId6"/>
                        </a:rPr>
                        <a:t>GitHub_URL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75379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0213-F35A-359F-E360-30DB0D9A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 :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CD74-6C9F-2593-75A5-14AC4E797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942" y="1825625"/>
            <a:ext cx="10776857" cy="4351338"/>
          </a:xfrm>
        </p:spPr>
        <p:txBody>
          <a:bodyPr/>
          <a:lstStyle/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Designing an Employee Management System using SQL.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I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Store and manage employee-related information efficiently.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I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The system maintains details such as employee, department, salary, leave, qualification, and payroll records.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IN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IN" dirty="0"/>
              <a:t>Enable easy data retrieval and reporting through a relational database for better HR management.</a:t>
            </a:r>
          </a:p>
        </p:txBody>
      </p:sp>
    </p:spTree>
    <p:extLst>
      <p:ext uri="{BB962C8B-B14F-4D97-AF65-F5344CB8AC3E}">
        <p14:creationId xmlns:p14="http://schemas.microsoft.com/office/powerpoint/2010/main" val="151313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3BEA-94ED-A983-ECD1-57749330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: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D96DE-F1AA-FF1E-5767-C4C350BEA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Managing employee records manually is time-consuming and error-prone.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Employee data is often scattered across multiple records.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Maintaining payroll, leave, and salary information becomes difficult.</a:t>
            </a:r>
          </a:p>
          <a:p>
            <a:pPr marL="11430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 centralized SQL database is needed to organize employee information efficiently.</a:t>
            </a:r>
          </a:p>
        </p:txBody>
      </p:sp>
    </p:spTree>
    <p:extLst>
      <p:ext uri="{BB962C8B-B14F-4D97-AF65-F5344CB8AC3E}">
        <p14:creationId xmlns:p14="http://schemas.microsoft.com/office/powerpoint/2010/main" val="60628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6CDF-182C-512E-2E41-902F0672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: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F124-6EB9-CD74-604B-A95B6AE04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Technologies Used :</a:t>
            </a:r>
          </a:p>
          <a:p>
            <a:pPr marL="114300" indent="0"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MySQL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SQL </a:t>
            </a:r>
          </a:p>
          <a:p>
            <a:r>
              <a:rPr lang="en-IN" dirty="0"/>
              <a:t>MySQL Workbench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A2B30-6E43-E46B-A587-52110F1B5C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95257" y="1825625"/>
            <a:ext cx="6368143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Key Features :</a:t>
            </a:r>
          </a:p>
          <a:p>
            <a:pPr marL="114300" indent="0">
              <a:buNone/>
            </a:pPr>
            <a:endParaRPr lang="en-IN" b="1" dirty="0"/>
          </a:p>
          <a:p>
            <a:r>
              <a:rPr lang="en-IN" dirty="0"/>
              <a:t>Employee Information Management </a:t>
            </a:r>
          </a:p>
          <a:p>
            <a:r>
              <a:rPr lang="en-IN" dirty="0"/>
              <a:t>Department &amp; Job Role Management </a:t>
            </a:r>
          </a:p>
          <a:p>
            <a:r>
              <a:rPr lang="en-IN" dirty="0"/>
              <a:t>Salary and Payroll Processing </a:t>
            </a:r>
          </a:p>
          <a:p>
            <a:r>
              <a:rPr lang="en-IN" dirty="0"/>
              <a:t>Leave Tracking </a:t>
            </a:r>
          </a:p>
          <a:p>
            <a:r>
              <a:rPr lang="en-IN" dirty="0"/>
              <a:t>Qualification Tracking </a:t>
            </a:r>
          </a:p>
        </p:txBody>
      </p:sp>
    </p:spTree>
    <p:extLst>
      <p:ext uri="{BB962C8B-B14F-4D97-AF65-F5344CB8AC3E}">
        <p14:creationId xmlns:p14="http://schemas.microsoft.com/office/powerpoint/2010/main" val="17682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7DA9-D004-FA4A-9E9E-0ECDF44A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5029"/>
          </a:xfrm>
        </p:spPr>
        <p:txBody>
          <a:bodyPr/>
          <a:lstStyle/>
          <a:p>
            <a:r>
              <a:rPr lang="en-IN" b="1" dirty="0"/>
              <a:t>ER Diagram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C7E771-4750-59C9-3060-BC8C53940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1025401"/>
            <a:ext cx="11658600" cy="505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87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2453-06B4-8A76-B947-84C711DD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Employee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410F9-EAD7-B52C-441B-4DF9F6F71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Which departments have the highest number of employees?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/>
              <a:t>Query :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Finance and IT departments have the highest workforce, with 9 employees each, indicating greater staffing requirements. </a:t>
            </a:r>
          </a:p>
          <a:p>
            <a:r>
              <a:rPr lang="en-IN" sz="2000" dirty="0"/>
              <a:t>The Legal department has the fewest employees (5), suggesting it operates with a smaller team compared to other departments.</a:t>
            </a:r>
          </a:p>
          <a:p>
            <a:pPr marL="11430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E413A-41D9-3B15-187D-B86F4A66E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31" y="1847478"/>
            <a:ext cx="2762392" cy="16982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366D6-088F-F312-F630-0F4BB84CD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669" y="1847478"/>
            <a:ext cx="2128645" cy="267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7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4E77-8823-916E-42DA-627B83E8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9BB6-40E3-8561-E81F-BDB737FA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Employee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3D89D-382B-6848-42A9-3AF0B504D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What is the average salary per department? 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The Legal department offers the highest average salary (₹84,600), indicating higher compensation compared to other departments.</a:t>
            </a:r>
          </a:p>
          <a:p>
            <a:r>
              <a:rPr lang="en-IN" sz="2000" dirty="0"/>
              <a:t>The HR department has the lowest average salary (approximately ₹62,571), while most other departments have average salaries between ₹65,000 and ₹81,000.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C38E8-0501-E632-F526-521FF27B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300" y="1598812"/>
            <a:ext cx="3619686" cy="1514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E782FB-2812-0243-F2C8-13E9EC53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162" y="1598812"/>
            <a:ext cx="2483809" cy="213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9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6231D-A082-1D43-FAB1-05524B72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F7E9-A893-1430-63B8-56AF01956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Employee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29A7-FCFC-DC59-FBD1-421721D9A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What is the total salary expenditure across the company? 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The company has a total of 60 employees with an overall salary expenditure of ₹43,21,000.</a:t>
            </a:r>
          </a:p>
          <a:p>
            <a:r>
              <a:rPr lang="en-IN" sz="2000" dirty="0"/>
              <a:t>The total salary expenditure provides a clear view of the company's payroll budget, helping in financial planning and resource allocation.</a:t>
            </a:r>
          </a:p>
          <a:p>
            <a:pPr marL="11430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1E15-978C-22C8-3B45-9B1F77A3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2024742"/>
            <a:ext cx="5758543" cy="1317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668D2F-065F-EFE1-80AA-92C6EB358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552" y="2095497"/>
            <a:ext cx="3614134" cy="9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0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025EE-7B96-C463-839C-FB3AAAF5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3C72-DBEF-B0B0-21A6-4006D4D5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 Job Role &amp; Department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E651F-2128-CB7E-7A3F-0B8B40EF2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5" y="914400"/>
            <a:ext cx="11854543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Which job roles offer the highest salary? 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Finance Director is the highest-paid job role with a salary of ₹170,000, followed by Engineering Director (₹160,000) and Marketing Director (₹150,000).</a:t>
            </a:r>
          </a:p>
          <a:p>
            <a:r>
              <a:rPr lang="en-IN" sz="2000" dirty="0"/>
              <a:t>Director-level positions dominate the top salary rankings, highlighting that leadership roles receive the highest compensation across departments.</a:t>
            </a:r>
          </a:p>
          <a:p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D336D-A186-8797-C018-3B80928A9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5" y="2177143"/>
            <a:ext cx="4104008" cy="1251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D92504-52E9-FBC9-8D4F-8885DA38F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417" y="1545771"/>
            <a:ext cx="4236448" cy="188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0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8158-8B7D-4B28-DB51-A9E895C5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BA57-9D31-EB6A-9389-C16B1DE1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 Job Role &amp; Department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21903-1A05-7A99-E39F-E8CC294F9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Which departments have the highest total salary allocation? 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The Finance department has the highest total salary allocation (₹651,000), indicating the largest payroll investment among all departments.</a:t>
            </a:r>
          </a:p>
          <a:p>
            <a:r>
              <a:rPr lang="en-IN" sz="2000" dirty="0"/>
              <a:t>The Legal department has the lowest total salary allocation (₹423,000), reflecting a comparatively smaller salary budget.</a:t>
            </a:r>
          </a:p>
          <a:p>
            <a:pPr marL="11430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2037B-AE93-8756-50C3-D2E30CBED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7" y="2035629"/>
            <a:ext cx="4115011" cy="1606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B5EEC1-A713-8B11-0F89-56C78E67A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973" y="1676401"/>
            <a:ext cx="2933827" cy="196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3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0D8F-65A8-2DC1-9357-C0D8648F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375E-1172-7CB4-8F38-E54FF4CA1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Qualification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F141E-D97E-763D-CA63-A93BD81D7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Which positions require the most qualifications?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All listed positions have an equal qualification count of 1, indicating that no single position requires more qualifications than the others.</a:t>
            </a:r>
          </a:p>
          <a:p>
            <a:r>
              <a:rPr lang="en-IN" sz="2000" dirty="0"/>
              <a:t>The qualification requirements are uniformly distributed across different job roles, suggesting consistent qualification criteria in the dataset.</a:t>
            </a:r>
          </a:p>
          <a:p>
            <a:pPr marL="11430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E7984-3F83-B3A7-EB2F-133C70CAD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95" y="2174082"/>
            <a:ext cx="3359323" cy="1371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185D8-BDD5-589D-C6FB-807555E29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302" y="1651409"/>
            <a:ext cx="3610498" cy="189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9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C091-590F-394B-8486-9EBA55E4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5A7BB-3003-CCE2-023C-0BB3B491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Qualification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08663-C8EF-2BE5-0AAA-A7958AB20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Which employees have the highest number of qualifications? 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All employees have an equal qualification count of 1, indicating that no employee has more qualifications than the others.</a:t>
            </a:r>
          </a:p>
          <a:p>
            <a:r>
              <a:rPr lang="en-IN" sz="2000" dirty="0"/>
              <a:t>The qualification records are evenly distributed, suggesting each employee is associated with one recorded qualification in the dataset.</a:t>
            </a: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8E6F6-7580-765B-70F7-827B670C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95" y="2198914"/>
            <a:ext cx="3505380" cy="1230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B61547-BF84-1A1F-1BF0-1DABB62E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326" y="1686290"/>
            <a:ext cx="2924674" cy="196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9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4352-536E-1FB4-48D9-2E8BA356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024F-FC33-DB06-55C6-F71A1A4F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Leaves and Absence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17AF-C638-4A44-3CFA-667AB3AFA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399314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What is the average number of leave days taken by its employees per department? </a:t>
            </a:r>
          </a:p>
          <a:p>
            <a:pPr marL="114300" indent="0">
              <a:buNone/>
            </a:pPr>
            <a:r>
              <a:rPr lang="en-IN" dirty="0"/>
              <a:t> </a:t>
            </a: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All departments have the same average leave count of 1 day per employee, indicating a uniform leave pattern across the organization.</a:t>
            </a:r>
          </a:p>
          <a:p>
            <a:r>
              <a:rPr lang="en-IN" sz="2000" dirty="0"/>
              <a:t>There is no significant variation in leave usage between departments, suggesting consistent leave management practices.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9B308-48F7-909C-A254-5E5B58BA3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75" y="1907665"/>
            <a:ext cx="4029639" cy="2065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F1A1CC-81AC-FCC9-08B3-CE15DC087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916" y="1907664"/>
            <a:ext cx="3056683" cy="197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6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4B1B-98F6-AAF2-0908-906041978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1A6B-2828-81F5-78CF-8A95E7C0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Leaves and Absence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FABF7-D8D4-8934-9D7A-18E8E6807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Which employees have taken the most leaves? </a:t>
            </a:r>
          </a:p>
          <a:p>
            <a:pPr marL="114300" indent="0">
              <a:buNone/>
            </a:pPr>
            <a:r>
              <a:rPr lang="en-IN" dirty="0"/>
              <a:t> </a:t>
            </a: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All employees have taken one leave each, indicating that no employee has taken more leaves than the others.</a:t>
            </a:r>
          </a:p>
          <a:p>
            <a:r>
              <a:rPr lang="en-IN" sz="2000" dirty="0"/>
              <a:t>Leave records are evenly distributed among employees, suggesting a balanced leave pattern in the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C4762-F2CD-E50F-ABC4-2B233C68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8" y="2231552"/>
            <a:ext cx="2914800" cy="1197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91EACF-98CD-8C1F-7DA0-46B971951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020" y="1578429"/>
            <a:ext cx="2381293" cy="185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4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C697-6A9C-93F8-54FA-B6C29CAC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F67C-0652-20B6-0068-B72FB68A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Leaves and Absence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29FF6-C238-73E9-B43F-AAFF1713A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How do leave days correlate with payroll amounts?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All employees have taken one leave day, but their payroll amounts differ based on their respective salary structures.</a:t>
            </a:r>
          </a:p>
          <a:p>
            <a:r>
              <a:rPr lang="en-IN" sz="2000" dirty="0"/>
              <a:t>Since the leave count is the same for all employees, there is no noticeable correlation between leave days and payroll amounts in this dataset.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F54D0B-B53D-6180-DF1F-898E2253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2030145"/>
            <a:ext cx="5540828" cy="1600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51440A-4741-18C3-8C55-AAF28C01F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955" y="1637807"/>
            <a:ext cx="3873131" cy="199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85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4C8F-0206-362B-1BE9-E55165AB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4BC5-3971-2052-4E6F-649D507A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Payroll and Compensation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636E3-D924-A22A-1FC4-D72F77F31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What is the total monthly payroll processed? 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The company processes a total monthly payroll of ₹277,800, representing the combined salary payments to all employees.</a:t>
            </a:r>
          </a:p>
          <a:p>
            <a:r>
              <a:rPr lang="en-IN" sz="2000" dirty="0"/>
              <a:t>The total monthly payroll provides a clear overview of the organization's monthly salary expenditure, supporting payroll planning and budgeting.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B91FC-0499-8425-AA9F-51D339103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88" y="2220686"/>
            <a:ext cx="3492679" cy="787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1AF692-7194-FD88-0F02-B9A3B7BE2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02" y="2144039"/>
            <a:ext cx="2512911" cy="86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63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06931-F14E-E6B2-4582-CFEAD451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8793-D327-42D6-0FE5-D82AE563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Payroll and Compensation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A117E-DC9D-3C44-A38A-6E0A7F077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What is the average bonus given per department?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The Legal department receives the highest average bonus (₹13,300), indicating the highest bonus allocation among all departments.</a:t>
            </a:r>
          </a:p>
          <a:p>
            <a:r>
              <a:rPr lang="en-IN" sz="2000" dirty="0"/>
              <a:t>The HR department has the lowest average bonus (₹8,171.43), while the average bonuses of other departments range between ₹9,125 and ₹12,571.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6D0E1-EDA0-A07F-03B8-7141F52B4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23" y="2057400"/>
            <a:ext cx="3736192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CE2FB-77D1-7DCC-C487-19F70B75B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286" y="1621971"/>
            <a:ext cx="2760028" cy="186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0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4EC0-D524-AF5B-3264-1E42CCE6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6E0A-8CB7-93BC-BAF5-9A30A4AA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/>
              <a:t>Payroll and Compensation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864C1-2144-5670-563D-299358B7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86" y="914400"/>
            <a:ext cx="11190514" cy="5262563"/>
          </a:xfrm>
        </p:spPr>
        <p:txBody>
          <a:bodyPr/>
          <a:lstStyle/>
          <a:p>
            <a:pPr marL="114300" indent="0">
              <a:buNone/>
            </a:pPr>
            <a:r>
              <a:rPr lang="en-IN" dirty="0"/>
              <a:t>Q. Which department receives the highest total bonuses? </a:t>
            </a:r>
          </a:p>
          <a:p>
            <a:pPr marL="114300" indent="0">
              <a:buNone/>
            </a:pPr>
            <a:r>
              <a:rPr lang="en-IN" b="1" dirty="0"/>
              <a:t>Query :                                                           Output :        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b="1" dirty="0"/>
              <a:t>Key Insights :</a:t>
            </a:r>
          </a:p>
          <a:p>
            <a:r>
              <a:rPr lang="en-IN" sz="2000" dirty="0"/>
              <a:t>The Finance department receives the highest total bonus (₹96,000), indicating the largest overall bonus allocation among all departments.</a:t>
            </a:r>
          </a:p>
          <a:p>
            <a:r>
              <a:rPr lang="en-IN" sz="2000" dirty="0"/>
              <a:t>The HR department has the lowest total bonus (₹57,200), while the bonuses of other departments range from ₹66,500 to ₹94,000.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CBC2FD-D5C2-B469-B26A-4B9F35D4E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41" y="2057400"/>
            <a:ext cx="3642716" cy="1458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B4DCC0-C50E-8F68-502D-CDD865CBF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209" y="1700852"/>
            <a:ext cx="2706505" cy="172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95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0E2A-2920-A5A0-9633-762552E9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 :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6C654-2D46-2C4A-AE43-508D92B3F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Designed proper relationships between tables using Primary Keys and Foreign Keys.</a:t>
            </a:r>
          </a:p>
          <a:p>
            <a:pPr marL="114300" indent="0">
              <a:buNone/>
            </a:pPr>
            <a:endParaRPr lang="en-IN" sz="2000" dirty="0"/>
          </a:p>
          <a:p>
            <a:r>
              <a:rPr lang="en-IN" sz="2000" dirty="0"/>
              <a:t>Maintained data integrity using constraints like </a:t>
            </a:r>
            <a:r>
              <a:rPr lang="en-IN" sz="2000" b="1" dirty="0"/>
              <a:t>ON DELETE CASCADE, ON UPDATE CASCADE</a:t>
            </a:r>
            <a:r>
              <a:rPr lang="en-IN" sz="2000" dirty="0"/>
              <a:t>, and </a:t>
            </a:r>
            <a:r>
              <a:rPr lang="en-IN" sz="2000" b="1" dirty="0"/>
              <a:t>SET NULL</a:t>
            </a:r>
            <a:r>
              <a:rPr lang="en-IN" sz="2000" dirty="0"/>
              <a:t>.</a:t>
            </a:r>
          </a:p>
          <a:p>
            <a:r>
              <a:rPr lang="en-IN" sz="2000" dirty="0"/>
              <a:t>Wrote complex SQL JOIN queries to retrieve data from multiple related tables.</a:t>
            </a:r>
          </a:p>
          <a:p>
            <a:endParaRPr lang="en-IN" sz="2000" dirty="0"/>
          </a:p>
          <a:p>
            <a:r>
              <a:rPr lang="en-IN" sz="2000" dirty="0"/>
              <a:t>Handled date fields in the </a:t>
            </a:r>
            <a:r>
              <a:rPr lang="en-IN" sz="2000" b="1" dirty="0"/>
              <a:t>YYYY-MM-DD</a:t>
            </a:r>
            <a:r>
              <a:rPr lang="en-IN" sz="2000" dirty="0"/>
              <a:t> format for accurate analysis.</a:t>
            </a:r>
          </a:p>
          <a:p>
            <a:endParaRPr lang="en-IN" sz="2000" dirty="0"/>
          </a:p>
          <a:p>
            <a:r>
              <a:rPr lang="en-IN" sz="2000" dirty="0"/>
              <a:t>Prevented duplicate records by applying </a:t>
            </a:r>
            <a:r>
              <a:rPr lang="en-IN" sz="2000" b="1" dirty="0"/>
              <a:t>UNIQUE</a:t>
            </a:r>
            <a:r>
              <a:rPr lang="en-IN" sz="2000" dirty="0"/>
              <a:t> constraints, especially for employee email addresses.</a:t>
            </a:r>
          </a:p>
        </p:txBody>
      </p:sp>
    </p:spTree>
    <p:extLst>
      <p:ext uri="{BB962C8B-B14F-4D97-AF65-F5344CB8AC3E}">
        <p14:creationId xmlns:p14="http://schemas.microsoft.com/office/powerpoint/2010/main" val="3344515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8DD9-2EDD-2235-EE0E-33B1C25F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: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91466-A71C-6443-D189-B913DB7A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 had </a:t>
            </a:r>
            <a:r>
              <a:rPr lang="en-IN" sz="2000" dirty="0"/>
              <a:t>Successfully designed and implemented an </a:t>
            </a:r>
            <a:r>
              <a:rPr lang="en-IN" sz="2000" b="1" dirty="0"/>
              <a:t>Employee Management System</a:t>
            </a:r>
            <a:r>
              <a:rPr lang="en-IN" sz="2000" dirty="0"/>
              <a:t> using SQL.</a:t>
            </a:r>
          </a:p>
          <a:p>
            <a:pPr marL="114300" indent="0">
              <a:buNone/>
            </a:pPr>
            <a:endParaRPr lang="en-IN" sz="2000" dirty="0"/>
          </a:p>
          <a:p>
            <a:r>
              <a:rPr lang="en-IN" sz="2000" dirty="0"/>
              <a:t>Created a relational database with </a:t>
            </a:r>
            <a:r>
              <a:rPr lang="en-IN" sz="2000" b="1" dirty="0"/>
              <a:t>6 interconnected tables</a:t>
            </a:r>
            <a:r>
              <a:rPr lang="en-IN" sz="2000" dirty="0"/>
              <a:t> using Primary and Foreign Keys.</a:t>
            </a:r>
          </a:p>
          <a:p>
            <a:endParaRPr lang="en-IN" sz="2000" dirty="0"/>
          </a:p>
          <a:p>
            <a:r>
              <a:rPr lang="en-IN" sz="2000" dirty="0"/>
              <a:t>Performed SQL analysis to generate insights on employees, departments, salaries, qualifications, leaves, and payroll.</a:t>
            </a:r>
          </a:p>
          <a:p>
            <a:endParaRPr lang="en-IN" sz="2000" dirty="0"/>
          </a:p>
          <a:p>
            <a:r>
              <a:rPr lang="en-IN" sz="2000" dirty="0"/>
              <a:t>Ensured data integrity using constraints and relationships.</a:t>
            </a:r>
          </a:p>
          <a:p>
            <a:endParaRPr lang="en-IN" sz="2000" dirty="0"/>
          </a:p>
          <a:p>
            <a:r>
              <a:rPr lang="en-IN" sz="2000" dirty="0"/>
              <a:t>Demonstrated how SQL can efficiently manage and </a:t>
            </a:r>
            <a:r>
              <a:rPr lang="en-IN" sz="2000" dirty="0" err="1"/>
              <a:t>analyze</a:t>
            </a:r>
            <a:r>
              <a:rPr lang="en-IN" sz="2000" dirty="0"/>
              <a:t> HR data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364921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1233</Words>
  <Application>Microsoft Office PowerPoint</Application>
  <PresentationFormat>Widescreen</PresentationFormat>
  <Paragraphs>200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Libre Baskerville</vt:lpstr>
      <vt:lpstr>Wingdings</vt:lpstr>
      <vt:lpstr>Office Theme</vt:lpstr>
      <vt:lpstr>PowerPoint Presentation</vt:lpstr>
      <vt:lpstr>PowerPoint Presentation</vt:lpstr>
      <vt:lpstr>Objective :</vt:lpstr>
      <vt:lpstr>Problem Statement :</vt:lpstr>
      <vt:lpstr>Overview :</vt:lpstr>
      <vt:lpstr>ER Diagram :</vt:lpstr>
      <vt:lpstr>Employee Analysis :</vt:lpstr>
      <vt:lpstr>Employee Analysis :</vt:lpstr>
      <vt:lpstr>Employee Analysis :</vt:lpstr>
      <vt:lpstr> Job Role &amp; Department Analysis :</vt:lpstr>
      <vt:lpstr> Job Role &amp; Department Analysis :</vt:lpstr>
      <vt:lpstr>Qualification Analysis :</vt:lpstr>
      <vt:lpstr>Qualification Analysis :</vt:lpstr>
      <vt:lpstr>Leaves and Absence Analysis :</vt:lpstr>
      <vt:lpstr>Leaves and Absence Analysis :</vt:lpstr>
      <vt:lpstr>Leaves and Absence Analysis :</vt:lpstr>
      <vt:lpstr>Payroll and Compensation Analysis :</vt:lpstr>
      <vt:lpstr>Payroll and Compensation Analysis :</vt:lpstr>
      <vt:lpstr>Payroll and Compensation Analysis :</vt:lpstr>
      <vt:lpstr>Challenges Faced :</vt:lpstr>
      <vt:lpstr>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Rohith Sunkari</cp:lastModifiedBy>
  <cp:revision>3</cp:revision>
  <dcterms:created xsi:type="dcterms:W3CDTF">2021-02-16T05:19:01Z</dcterms:created>
  <dcterms:modified xsi:type="dcterms:W3CDTF">2026-07-26T14:13:08Z</dcterms:modified>
</cp:coreProperties>
</file>